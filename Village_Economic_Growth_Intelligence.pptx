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7315200" cy="7315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2286000"/>
            <a:ext cx="3657600" cy="3657600"/>
          </a:xfrm>
          <a:prstGeom prst="ellipse">
            <a:avLst/>
          </a:prstGeom>
          <a:solidFill>
            <a:srgbClr val="1E1B4B">
              <a:alpha val="60000"/>
            </a:srgbClr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48640"/>
            <a:ext cx="3108960" cy="347472"/>
          </a:xfrm>
          <a:prstGeom prst="roundRect">
            <a:avLst>
              <a:gd name="adj" fmla="val 13158"/>
            </a:avLst>
          </a:prstGeom>
          <a:solidFill>
            <a:srgbClr val="312E8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A5B4FC"/>
                </a:solidFill>
              </a:rPr>
              <a:t>SATELLITE INTELLIGENCE REPORT · INDIA · 2019–2024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Village Economic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93C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Intelligence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8288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32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India's Top 100 Economically Growing Villages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Multi-Signal Satellite &amp; Geospatial Analysis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22860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4663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64748B"/>
                </a:solidFill>
              </a:rPr>
              <a:t>Villages Ranked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4572000"/>
            <a:ext cx="22860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4663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5,150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9184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64748B"/>
                </a:solidFill>
              </a:rPr>
              <a:t>Villages Analysed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4572000"/>
            <a:ext cx="22860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4663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64748B"/>
                </a:solidFill>
              </a:rPr>
              <a:t>Satellite Signals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595360" y="4572000"/>
            <a:ext cx="22860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95360" y="4663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59536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64748B"/>
                </a:solidFill>
              </a:rPr>
              <a:t>States Covered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 &amp; 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What we measured · How we measured it · Why each signal matters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471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5661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508760"/>
            <a:ext cx="777240" cy="256032"/>
          </a:xfrm>
          <a:prstGeom prst="roundRect">
            <a:avLst>
              <a:gd name="adj" fmla="val 10714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5087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Wt: 30%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🛰  VIIRS Nighttime Lights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VIIRS-DNB annual composites (2019–2024). Absolute &amp; relative change in radiance signals electrification, commercial activity &amp; manufacturing.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Source: NASA Black Marble / SHRUG ntl_village_features.csv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0" y="1371600"/>
            <a:ext cx="35661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508760"/>
            <a:ext cx="777240" cy="256032"/>
          </a:xfrm>
          <a:prstGeom prst="roundRect">
            <a:avLst>
              <a:gd name="adj" fmla="val 10714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5087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Wt: 25%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343400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🏗  NDBI Built-Up Index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43400" y="1965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Sentinel-2 derived NDBI tiles 2020 &amp; 2025 (4 tiles each). Delta in built-up index proxies construction investment &amp; peri-urban expansion.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4340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Source: builtup_village_features.csv / ndbi_*.tif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7955280" y="137160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55280" y="1371600"/>
            <a:ext cx="35661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0" y="1508760"/>
            <a:ext cx="777240" cy="256032"/>
          </a:xfrm>
          <a:prstGeom prst="roundRect">
            <a:avLst>
              <a:gd name="adj" fmla="val 10714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0" y="15087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</a:rPr>
              <a:t>Wt: 15%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092440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🌾  NDVI Agricultural Index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2440" y="1965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MODIS/Sentinel NDVI annual mean 2025 + growth trend raster. Positive trend signals agricultural intensification, irrigation expansion, income growth.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09244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Source: ndvi_village_features.csv / ndvi_growth_trend_india.tif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749040"/>
            <a:ext cx="53949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3886200"/>
            <a:ext cx="777240" cy="256032"/>
          </a:xfrm>
          <a:prstGeom prst="roundRect">
            <a:avLst>
              <a:gd name="adj" fmla="val 10714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8862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</a:rPr>
              <a:t>Wt: 15%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94360" y="39776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🛣  PMGSY Road Connectivity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43434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Pradhan Mantri Gram Sadak Yojana construction records. Road type (Kutcha/WBM/Black-Top), connectivity status &amp; distance to nearest town.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4360" y="5532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Source: SHRUG shrug-pmgsy-csv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4206240" y="374904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06240" y="3749040"/>
            <a:ext cx="53949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6800" y="3886200"/>
            <a:ext cx="777240" cy="256032"/>
          </a:xfrm>
          <a:prstGeom prst="roundRect">
            <a:avLst>
              <a:gd name="adj" fmla="val 10714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38862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</a:rPr>
              <a:t>Wt: 15%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343400" y="39776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📡  Digital &amp; Market Integration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43400" y="43434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Telecom tower presence + distance to urban centre. Proxies access to digital payments, e-commerce &amp; price discovery — emerging rural drivers.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343400" y="5532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Source: Antyodaya poverty scores + SHRUG census data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Composite Growth Score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How we define &amp; measure 'economic growth'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CGS = 0.30×NTL_norm + 0.25×BuiltUp_norm + 0.15×NDVI_norm + 0.15×Road_norm + 0.15×Digital_norm   →   Percentile 0–100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Signal Weights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VIIRS NTL Growth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2468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Electricity &amp; commercial activity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0" y="2560320"/>
            <a:ext cx="45720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560320"/>
            <a:ext cx="219456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24688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30%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NDBI Expansion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3154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Construction &amp; urban investment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3246120"/>
            <a:ext cx="45720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246120"/>
            <a:ext cx="182880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31546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25%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NDVI Agri Trend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840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Farm productivity &amp; irrigation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3931920"/>
            <a:ext cx="45720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3931920"/>
            <a:ext cx="1097280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38404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15%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Road Connectivity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4526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Market access &amp; trade integration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83680" y="4617720"/>
            <a:ext cx="45720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4617720"/>
            <a:ext cx="109728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45262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15%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52120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Digital Integration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5212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Telecom, e-commerce, price discovery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0" y="5303520"/>
            <a:ext cx="45720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5303520"/>
            <a:ext cx="1097280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52120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15%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943600"/>
            <a:ext cx="1124712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943600"/>
            <a:ext cx="11247120" cy="685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Normalization: </a:t>
            </a:r>
            <a:pPr indent="0" marL="0">
              <a:buNone/>
            </a:pPr>
            <a:r>
              <a:rPr lang="en-US" sz="900" dirty="0">
                <a:solidFill>
                  <a:srgbClr val="047857"/>
                </a:solidFill>
              </a:rPr>
              <a:t>Each signal is Winsorized at 1–99th percentile, then MinMax scaled to 0–1. Final CGS is converted to a percentile rank (0–100) across all villages analysed. This approach captures RELATIVE GROWTH, not absolute wealth levels — ensuring emerging villages are fairly ranked against already-developed ones.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+136%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Avg. built-up area growth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vs 18% national avg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26517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430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10.1 nW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1719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Avg. NTL absolute gain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7.2× national median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6517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430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1719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Road-connected (top 100)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vs 58% national avg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961120" y="10058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0" y="1005840"/>
            <a:ext cx="26517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11430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961120" y="1719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NTL-led villages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61120" y="20116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largest single driver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26974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</a:rPr>
              <a:t>TOP 10 VILLAGES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5943600" cy="338328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1645920"/>
                <a:gridCol w="822960"/>
                <a:gridCol w="1920240"/>
              </a:tblGrid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Driver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HA010125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Haryana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100.0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NTL-Led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TE030114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Telangana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99.98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NTL-Led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UT130134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Uttar Pradesh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99.96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Built-Up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BI210215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Bihar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99.94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Built-Up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BI030204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Bihar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99.92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Built-Up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HA230044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Haryana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99.90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NTL-Led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KA170009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Karnataka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99.88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Built-Up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KA130026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Karnataka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99.86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Built-Up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UT050241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Uttar Pradesh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99.84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NTL-Led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GU020282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Gujarat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99.83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Built-Up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766560" y="2697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</a:rPr>
              <a:t>GROWTH DRIVER BREAKDOWN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766560" y="3063240"/>
            <a:ext cx="4937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766560" y="306324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9516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⚡ NTL-Led (Electrification)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995160" y="3474720"/>
            <a:ext cx="32004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995160" y="3474720"/>
            <a:ext cx="1152144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287000" y="34107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36%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766560" y="3977640"/>
            <a:ext cx="4937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766560" y="3977640"/>
            <a:ext cx="7315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9516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🏗 Construction Boom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995160" y="4389120"/>
            <a:ext cx="32004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995160" y="4389120"/>
            <a:ext cx="896112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287000" y="43251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28%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766560" y="4892040"/>
            <a:ext cx="4937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766560" y="4892040"/>
            <a:ext cx="7315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95160" y="4937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🛣 Road-Driven Growth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995160" y="5303520"/>
            <a:ext cx="32004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995160" y="5303520"/>
            <a:ext cx="768096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287000" y="5239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24%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766560" y="5806440"/>
            <a:ext cx="4937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766560" y="5806440"/>
            <a:ext cx="73152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995160" y="5852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🌾 Agricultural Growth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995160" y="6217920"/>
            <a:ext cx="32004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995160" y="6217920"/>
            <a:ext cx="384048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287000" y="61539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12%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 &amp; State-Level Insights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Where is growth concentrated · Pattern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</a:rPr>
              <a:t>Top States by Village Count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UP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94560" y="1353312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1353312"/>
            <a:ext cx="411480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28016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7556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Bihar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1828800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1828800"/>
            <a:ext cx="370332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75564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23113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Karnataka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94560" y="2304288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2304288"/>
            <a:ext cx="370332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2311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7066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Tamil Nadu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94560" y="2779776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4560" y="2779776"/>
            <a:ext cx="370332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70662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1821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MP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3255264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4560" y="3255264"/>
            <a:ext cx="288036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1821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6576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Rajasthan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94560" y="3730752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3730752"/>
            <a:ext cx="288036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6576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1330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Telangana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94560" y="4206240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4560" y="4206240"/>
            <a:ext cx="246888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413308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6085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West Bengal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194560" y="4681728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94560" y="4681728"/>
            <a:ext cx="205740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460857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50840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UPakhand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194560" y="5157216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94560" y="5157216"/>
            <a:ext cx="205740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508406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55595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Andhra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94560" y="5632704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94560" y="5632704"/>
            <a:ext cx="205740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555955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0" y="960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</a:rPr>
              <a:t>Regional Patterns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58000" y="1280160"/>
            <a:ext cx="48463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58000" y="128016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59168" y="13716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Indo-Gangetic Plain Dominance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059168" y="167335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UP + Bihar alone contribute 19% of top 100, reflecting rapid electrification under Saubhagya scheme and PMGSY road expansion in underserved belt.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58000" y="2606040"/>
            <a:ext cx="48463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58000" y="2606040"/>
            <a:ext cx="64008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59168" y="2697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Southern Tech Corridor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059168" y="299923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Karnataka + Telangana + Tamil Nadu show strong construction-boom signals around peri-urban growth corridors near Tier-2 cities.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58000" y="3931920"/>
            <a:ext cx="48463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858000" y="3931920"/>
            <a:ext cx="64008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9168" y="40233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Agricultural Pockets in Rajasthan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059168" y="432511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Rajasthan villages show NDVI-led scores, consistent with drip irrigation expansion and water harvesting programs boosting farm productivity.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858000" y="5257800"/>
            <a:ext cx="48463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858000" y="525780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59168" y="53492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Himalayan Foothills (Uttarakhand)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059168" y="56509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Uttarakhand villages rank high on road + digital scores, suggesting tourism-linked economic growth and improving mountain connectivity.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What We'd Do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5577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16128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Correlation ≠ Causation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Satellite signals are proxies. NTL growth could reflect street lighting rather than economic activity. NDBI growth might be roads, not buildings. Ground-truth validation with census consumption data is essential.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309360" y="1051560"/>
            <a:ext cx="5577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03720" y="116128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Village Boundary Misalignment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6520" y="15544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SHRUG PC11 village polygons (2011 census) may not reflect current administrative boundaries. Raster extraction zonal statistics can suffer from boundary drift, especially in fast-growing peri-urban areas.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5577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299008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Temporal Inconsistency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3832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NDBI tiles span 2020–2025 while NTL spans 2019–2024. Seasonal effects and cloud contamination in monsoon months can bias NDVI and NDBI values despite annual compositing.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309360" y="2880360"/>
            <a:ext cx="5577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299008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Equal Weights Assumption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33832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Signal weights (30/25/15/15/15) are expert-defined. Optimal weights vary by agro-climatic zone. A machine-learning calibration against SECC consumption data would improve accuracy significantly.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</a:rPr>
              <a:t>With More Time / Data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5166360"/>
            <a:ext cx="27432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1663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→ Ground-truth vs SECC consumption data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83280" y="5166360"/>
            <a:ext cx="27432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51663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→ ML-calibrated signal weights by zone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309360" y="5166360"/>
            <a:ext cx="27432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51663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→ Add mobile payments &amp; MSME density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235440" y="5166360"/>
            <a:ext cx="27432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51663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→ Annual time-series animation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8229600" cy="8229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Growth 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Longer Invisible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22860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data gives us a 5-year, village-level economic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across 640,000+ settlements — continuously updating,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survey required, and reproducible at scale.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9319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 investment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42062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Identify villages at inflection point before mainstream capital arrives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6634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Policy monitoring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49377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Track impact of PMGSY, Saubhagya, MGNREGS across geographies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394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🔮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53949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Predictive alerts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56692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Flag villages likely to cross urbanisation threshold in next 3 years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6492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Kritter Software Technologies · Village Economic Growth Intelligence · 2024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2026-05-13T23:44:12Z</dcterms:created>
  <dcterms:modified xsi:type="dcterms:W3CDTF">2026-05-13T23:44:12Z</dcterms:modified>
</cp:coreProperties>
</file>
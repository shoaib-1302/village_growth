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7315200" cy="7315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2286000"/>
            <a:ext cx="3657600" cy="3657600"/>
          </a:xfrm>
          <a:prstGeom prst="ellipse">
            <a:avLst/>
          </a:prstGeom>
          <a:solidFill>
            <a:srgbClr val="1E1B4B">
              <a:alpha val="60000"/>
            </a:srgbClr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48640"/>
            <a:ext cx="3108960" cy="347472"/>
          </a:xfrm>
          <a:prstGeom prst="roundRect">
            <a:avLst>
              <a:gd name="adj" fmla="val 13158"/>
            </a:avLst>
          </a:prstGeom>
          <a:solidFill>
            <a:srgbClr val="312E8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A5B4FC"/>
                </a:solidFill>
              </a:rPr>
              <a:t>SATELLITE INTELLIGENCE REPORT · INDIA · 2019–2024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40080" y="11887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 Economic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93C5F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Intelligence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18288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6324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India's Top 100 Economically Growing Villages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Multi-Signal Satellite &amp; Geospatial Analysis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Villages Ranked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5,150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9184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Villages Analysed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94360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Satellite Signals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595360" y="4572000"/>
            <a:ext cx="2286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95360" y="46634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595360" y="5349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50" kern="0" dirty="0">
                <a:solidFill>
                  <a:srgbClr val="64748B"/>
                </a:solidFill>
              </a:rPr>
              <a:t>States Covered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What we measured · How we measured it · Why each signal matters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5661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50876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0" y="1508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Wt: 30%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436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🛰  VIIRS Nighttime Lights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VIIRS-DNB annual composites (2019–2024). Absolute &amp; relative change in radiance signals electrification, commercial activity &amp; manufacturing.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NASA Black Marble / SHRUG ntl_village_features.csv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20624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06240" y="1371600"/>
            <a:ext cx="35661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150876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508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Wt: 25%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34340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🏗  NDBI Built-Up Index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Sentinel-2 derived NDBI tiles 2020 &amp; 2025 (4 tiles each). Delta in built-up index proxies construction investment &amp; peri-urban expansion.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4340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builtup_village_features.csv / ndbi_*.tif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7955280" y="137160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0" y="1371600"/>
            <a:ext cx="35661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0" y="150876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0" y="15087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Wt: 15%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092440" y="1600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🌾  NDVI Agricultural Index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092440" y="196596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MODIS/Sentinel NDVI annual mean 2025 + growth trend raster. Positive trend signals agricultural intensification, irrigation expansion, income growth.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092440" y="3154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ndvi_village_features.csv / ndvi_growth_trend_india.tif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49040"/>
            <a:ext cx="53949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388620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886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</a:rPr>
              <a:t>Wt: 15%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94360" y="39776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🛣  PMGSY Road Connectivity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343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Pradhan Mantri Gram Sadak Yojana construction records. Road type (Kutcha/WBM/Black-Top), connectivity status &amp; distance to nearest town.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94360" y="5532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SHRUG shrug-pmgsy-csv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206240" y="374904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206240" y="3749040"/>
            <a:ext cx="53949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0" y="3886200"/>
            <a:ext cx="777240" cy="256032"/>
          </a:xfrm>
          <a:prstGeom prst="roundRect">
            <a:avLst>
              <a:gd name="adj" fmla="val 10714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0" y="3886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B5CF6"/>
                </a:solidFill>
              </a:rPr>
              <a:t>Wt: 15%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343400" y="397764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📡  Digital &amp; Market Integration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43400" y="43434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Telecom tower presence + distance to urban centre. Proxies access to digital payments, e-commerce &amp; price discovery — emerging rural drivers.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343400" y="5532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4748B"/>
                </a:solidFill>
              </a:rPr>
              <a:t>Source: Antyodaya poverty scores + SHRUG census data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Composite Growth Score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How we define &amp; measure 'economic growth'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solidFill>
            <a:srgbClr val="EFF6FF"/>
          </a:solidFill>
          <a:ln w="1905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CGS = 0.30×NTL_norm + 0.25×BuiltUp_norm + 0.15×NDVI_norm + 0.15×Road_norm + 0.15×Digital_norm   →   Percentile 0–100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</a:rPr>
              <a:t>Signal Weights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VIIRS NTL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468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Electricity &amp; commercial activity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0" y="25603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560320"/>
            <a:ext cx="2194560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24688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154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NDBI Expansion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Construction &amp; urban investment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2461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246120"/>
            <a:ext cx="1828800" cy="182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31546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NDVI Agri Trend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Farm productivity &amp; irrigation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0" y="39319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3931920"/>
            <a:ext cx="1097280" cy="182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38404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15%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5262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Road Connectivity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4526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 access &amp; trade integration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46177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4617720"/>
            <a:ext cx="1097280" cy="1828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0" y="45262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15%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52120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Digital Integration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5212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Telecom, e-commerce, price discovery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5303520"/>
            <a:ext cx="4572000" cy="1828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83680" y="5303520"/>
            <a:ext cx="1097280" cy="182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521208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</a:rPr>
              <a:t>15%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943600"/>
            <a:ext cx="11247120" cy="6858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F46"/>
                </a:solidFill>
              </a:rPr>
              <a:t>Normalization: </a:t>
            </a:r>
            <a:pPr indent="0" marL="0">
              <a:buNone/>
            </a:pPr>
            <a:r>
              <a:rPr lang="en-US" sz="900" dirty="0">
                <a:solidFill>
                  <a:srgbClr val="047857"/>
                </a:solidFill>
              </a:rPr>
              <a:t>Each signal is Winsorized at 1–99th percentile, then MinMax scaled to 0–1. Final CGS is converted to a percentile rank (0–100) across all villages analysed. This approach captures RELATIVE GROWTH, not absolute wealth levels — ensuring emerging villages are fairly ranked against already-developed ones.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Avg. built-up area growth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vs 18% national avg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10.1 nW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Avg. NTL absolute gain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7.2× national median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Road-connected (top 100)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vs 58% national avg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961120" y="10058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0" y="1005840"/>
            <a:ext cx="265176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0" y="11430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96112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NTL-led villages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0" y="201168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largest single driver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2697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TOP 10 VILLAGES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71800"/>
          <a:ext cx="5943600" cy="3383280"/>
        </p:xfrm>
        <a:graphic>
          <a:graphicData uri="http://schemas.openxmlformats.org/drawingml/2006/table">
            <a:tbl>
              <a:tblPr/>
              <a:tblGrid>
                <a:gridCol w="457200"/>
                <a:gridCol w="1097280"/>
                <a:gridCol w="1645920"/>
                <a:gridCol w="822960"/>
                <a:gridCol w="1920240"/>
              </a:tblGrid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Driver</a:t>
                      </a:r>
                      <a:endParaRPr lang="en-US" sz="8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HA010125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Haryana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100.0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TE030114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Telangana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UT130134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BI210215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Bihar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BI030204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Bihar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HA230044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Haryana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99.90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KA170009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Karnataka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KA130026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Karnataka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UT050241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Uttar Pradesh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NTL-Led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75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GU020282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Gujarat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C3AED"/>
                          </a:solidFill>
                        </a:rPr>
                        <a:t>99.83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Built-Up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766560" y="26974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GROWTH DRIVER BREAKDOWN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766560" y="30632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766560" y="3063240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95160" y="3108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⚡ NTL-Led (Electrification)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995160" y="34747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95160" y="3474720"/>
            <a:ext cx="1152144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287000" y="34107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36%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66560" y="39776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766560" y="3977640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95160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🏗 Construction Boom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995160" y="43891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995160" y="4389120"/>
            <a:ext cx="896112" cy="12801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287000" y="4325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28%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766560" y="48920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766560" y="4892040"/>
            <a:ext cx="73152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95160" y="4937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🛣 Road-Driven Growth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995160" y="53035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995160" y="5303520"/>
            <a:ext cx="768096" cy="1280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287000" y="52395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24%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66560" y="5806440"/>
            <a:ext cx="49377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6766560" y="5806440"/>
            <a:ext cx="73152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95160" y="5852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🌾 Agricultural Growth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995160" y="6217920"/>
            <a:ext cx="3200400" cy="1280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995160" y="6217920"/>
            <a:ext cx="384048" cy="12801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287000" y="61539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12%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Geographic &amp; State-Level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Where is growth concentrated · Pattern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Top States by Village Count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94560" y="1353312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94560" y="1353312"/>
            <a:ext cx="41148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2801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Bihar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828800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94560" y="1828800"/>
            <a:ext cx="37033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7556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2311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Karnataka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94560" y="2304288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304288"/>
            <a:ext cx="37033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2311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70662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Tamil Nadu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2779776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2779776"/>
            <a:ext cx="370332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7066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18211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MP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194560" y="3255264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4560" y="3255264"/>
            <a:ext cx="288036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18211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Rajasthan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194560" y="3730752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94560" y="3730752"/>
            <a:ext cx="288036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36576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330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Telangana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4206240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4206240"/>
            <a:ext cx="246888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413308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60857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West Bengal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194560" y="4681728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94560" y="4681728"/>
            <a:ext cx="20574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460857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508406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UPakhand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194560" y="5157216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94560" y="5157216"/>
            <a:ext cx="20574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08406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55595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</a:rPr>
              <a:t>Andhra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94560" y="5632704"/>
            <a:ext cx="41148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94560" y="5632704"/>
            <a:ext cx="20574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55955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58000" y="960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Regional Patterns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858000" y="128016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58000" y="128016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59168" y="1371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Indo-Gangetic Plain Dominance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059168" y="16733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UP + Bihar alone contribute 19% of top 100, reflecting rapid electrification under Saubhagya scheme and PMGSY road expansion in underserved belt.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58000" y="260604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2606040"/>
            <a:ext cx="64008" cy="1188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59168" y="269748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Southern Tech Corridor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059168" y="29992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Karnataka + Telangana + Tamil Nadu show strong construction-boom signals around peri-urban growth corridors near Tier-2 cities.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58000" y="393192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858000" y="3931920"/>
            <a:ext cx="64008" cy="1188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40233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Agricultural Pockets in Rajasthan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059168" y="432511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Rajasthan villages show NDVI-led scores, consistent with drip irrigation expansion and water harvesting programs boosting farm productivity.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858000" y="5257800"/>
            <a:ext cx="484632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858000" y="5257800"/>
            <a:ext cx="6400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59168" y="53492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Himalayan Foothills (Uttarakhand)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059168" y="565099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Uttarakhand villages rank high on road + digital scores, suggesting tourism-linked economic growth and improving mountain connectivity.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What We'd Do Next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12471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11612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Correlation ≠ Causation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Satellite signals are proxies. NTL growth could reflect street lighting rather than economic activity. NDBI growth might be roads, not buildings. Ground-truth validation with census consumption data is essential.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309360" y="10515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03720" y="11612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Village Boundary Misalignment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15544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SHRUG PC11 village polygons (2011 census) may not reflect current administrative boundaries. Raster extraction zonal statistics can suffer from boundary drift, especially in fast-growing peri-urban areas.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9900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Temporal Inconsistency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832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NDBI tiles span 2020–2025 while NTL spans 2019–2024. Seasonal effects and cloud contamination in monsoon months can bias NDVI and NDBI values despite annual compositing.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309360" y="2880360"/>
            <a:ext cx="5577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299008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Equal Weights Assumption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334155"/>
                </a:solidFill>
              </a:rPr>
              <a:t>Signal weights (30/25/15/15/15) are expert-defined. Optimal weights vary by agro-climatic zone. A machine-learning calibration against SECC consumption data would improve accuracy significantly.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</a:rPr>
              <a:t>With More Time / Data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Ground-truth vs SECC consumption data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8328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ML-calibrated signal weights by zone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0936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Add mobile payments &amp; MSME density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9235440" y="5166360"/>
            <a:ext cx="2743200" cy="594360"/>
          </a:xfrm>
          <a:prstGeom prst="roundRect">
            <a:avLst>
              <a:gd name="adj" fmla="val 769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0" y="51663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→ Annual time-series animation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8229600" cy="8229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Growth 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Longer Invisible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2860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data gives us a 5-year, village-level economic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across 640,000+ settlements — continuously updating,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survey required, and reproducible at scale.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9319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Target investment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42062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Identify villages at inflection point before mainstream capital arrives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4663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6634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Policy monitoring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49377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Track impact of PMGSY, Saubhagya, MGNREGS across geographies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5394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🔮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5394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Predictive alerts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5669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Flag villages likely to cross urbanisation threshold in next 3 years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49224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</a:rPr>
              <a:t>Kritter Software Technologies · Village Economic Growth Intelligence · 2024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2026-05-14T00:26:17Z</dcterms:created>
  <dcterms:modified xsi:type="dcterms:W3CDTF">2026-05-14T00:26:17Z</dcterms:modified>
</cp:coreProperties>
</file>